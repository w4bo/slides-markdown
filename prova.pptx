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16/J.ESWA.2023.122055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Subtitle</a:t>
            </a:r>
            <a:br/>
            <a:br/>
            <a:r>
              <a:rPr/>
              <a:t>John Doe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2023-12-04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 column (Francia, Gallinucci, and Golfarelli 2024)</a:t>
            </a:r>
          </a:p>
          <a:p>
            <a:pPr lvl="0"/>
            <a:r>
              <a:rPr/>
              <a:t>Nested level 1</a:t>
            </a:r>
          </a:p>
          <a:p>
            <a:pPr lvl="1"/>
            <a:r>
              <a:rPr/>
              <a:t>Nested level 2</a:t>
            </a:r>
          </a:p>
          <a:p>
            <a:pPr lvl="2"/>
            <a:r>
              <a:rPr/>
              <a:t>Nested level 3</a:t>
            </a:r>
          </a:p>
          <a:p>
            <a:pPr lvl="2"/>
            <a:r>
              <a:rPr/>
              <a:t>Nested level 3</a:t>
            </a:r>
          </a:p>
          <a:p>
            <a:pPr lvl="1"/>
            <a:r>
              <a:rPr/>
              <a:t>Nested level 2</a:t>
            </a:r>
          </a:p>
          <a:p>
            <a:pPr lvl="0"/>
            <a:r>
              <a:rPr/>
              <a:t>Nested level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Right column</a:t>
            </a:r>
          </a:p>
          <a:p>
            <a:pPr lvl="0"/>
            <a:r>
              <a:rPr/>
              <a:t>Nested level 1</a:t>
            </a:r>
          </a:p>
          <a:p>
            <a:pPr lvl="1"/>
            <a:r>
              <a:rPr/>
              <a:t>Nested level 2</a:t>
            </a:r>
          </a:p>
          <a:p>
            <a:pPr lvl="2"/>
            <a:r>
              <a:rPr/>
              <a:t>Nested level 3</a:t>
            </a:r>
          </a:p>
          <a:p>
            <a:pPr lvl="2"/>
            <a:r>
              <a:rPr/>
              <a:t>Nested level 3</a:t>
            </a:r>
          </a:p>
          <a:p>
            <a:pPr lvl="1"/>
            <a:r>
              <a:rPr/>
              <a:t>Nested level 2</a:t>
            </a:r>
          </a:p>
          <a:p>
            <a:pPr lvl="0"/>
            <a:r>
              <a:rPr/>
              <a:t>Nested level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This is some latex</a:t>
                </a:r>
              </a:p>
              <a:p>
                <a:pPr lvl="0"/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}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embedded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Main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 from embedded document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Section</a:t>
            </a:r>
          </a:p>
          <a:p>
            <a:pPr lvl="0" indent="0" marL="0">
              <a:buNone/>
            </a:pPr>
            <a:r>
              <a:rPr/>
              <a:t>Bbb</a:t>
            </a:r>
          </a:p>
        </p:txBody>
      </p:sp>
      <p:pic>
        <p:nvPicPr>
          <p:cNvPr descr="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203200"/>
            <a:ext cx="49276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immagine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Section</a:t>
            </a:r>
          </a:p>
          <a:p>
            <a:pPr lvl="0" indent="0" marL="0">
              <a:buNone/>
            </a:pPr>
            <a:r>
              <a:rPr/>
              <a:t>Xxx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subsection</a:t>
            </a:r>
          </a:p>
          <a:p>
            <a:pPr lvl="0" indent="0" marL="0">
              <a:buNone/>
            </a:pPr>
            <a:r>
              <a:rPr/>
              <a:t>Ccc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subsection</a:t>
            </a:r>
          </a:p>
          <a:p>
            <a:pPr lvl="0" indent="0" marL="0">
              <a:buNone/>
            </a:pPr>
            <a:r>
              <a:rPr/>
              <a:t>Yyy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subsubsection</a:t>
            </a:r>
          </a:p>
          <a:p>
            <a:pPr lvl="0" indent="0" marL="0">
              <a:buNone/>
            </a:pPr>
            <a:r>
              <a:rPr/>
              <a:t>Ddd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subsubsubsection</a:t>
            </a:r>
          </a:p>
          <a:p>
            <a:pPr lvl="0" indent="0" marL="0">
              <a:buNone/>
            </a:pPr>
            <a:r>
              <a:rPr/>
              <a:t>Eee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other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 generated SVG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Executed Python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pathlib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Path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matplotlib.pyplot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plt</a:t>
            </a:r>
            <a:br/>
            <a:br/>
            <a:r>
              <a:rPr>
                <a:latin typeface="Courier"/>
              </a:rPr>
              <a:t>output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Path(</a:t>
            </a:r>
            <a:r>
              <a:rPr>
                <a:solidFill>
                  <a:srgbClr val="4070A0"/>
                </a:solidFill>
                <a:latin typeface="Courier"/>
              </a:rPr>
              <a:t>"generated-python.svg"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fig, ax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plt.subplots(figsize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5.2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3.2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categories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"Alpha"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"Beta"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"Gamma"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"Delta"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values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ax.bar(categories, values, color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"#669BBC"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"#E4572E"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"#29335C"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"#A8DADC"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ax.set_title(</a:t>
            </a:r>
            <a:r>
              <a:rPr>
                <a:solidFill>
                  <a:srgbClr val="4070A0"/>
                </a:solidFill>
                <a:latin typeface="Courier"/>
              </a:rPr>
              <a:t>"SVG generated with matplotlib"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ax.set_ylabel(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ax.spines[[</a:t>
            </a:r>
            <a:r>
              <a:rPr>
                <a:solidFill>
                  <a:srgbClr val="4070A0"/>
                </a:solidFill>
                <a:latin typeface="Courier"/>
              </a:rPr>
              <a:t>"top"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"right"</a:t>
            </a:r>
            <a:r>
              <a:rPr>
                <a:latin typeface="Courier"/>
              </a:rPr>
              <a:t>]].set_visible(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ax.grid(axis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"y"</a:t>
            </a:r>
            <a:r>
              <a:rPr>
                <a:latin typeface="Courier"/>
              </a:rPr>
              <a:t>, alpha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fig.tight_layout()</a:t>
            </a:r>
            <a:br/>
            <a:r>
              <a:rPr>
                <a:latin typeface="Courier"/>
              </a:rPr>
              <a:t>fig.savefig(output, </a:t>
            </a:r>
            <a:r>
              <a:rPr>
                <a:solidFill>
                  <a:srgbClr val="008000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"svg"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plt.close(fig)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Generated SVG</a:t>
            </a:r>
          </a:p>
          <a:p>
            <a:pPr lvl="0" indent="0" marL="0">
              <a:buNone/>
            </a:pPr>
            <a:r>
              <a:rPr/>
              <a:t>SVG generated by the Python chunk</a:t>
            </a:r>
          </a:p>
          <a:p>
            <a:pPr lvl="0" indent="0" marL="0">
              <a:buNone/>
            </a:pPr>
            <a:r>
              <a:rPr/>
              <a:t>SVG generated by the Python chunk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Francia, Matteo, Enrico Gallinucci, and Matteo Golfarelli. 2024. “Colossal Trajectory Mining: A Unifying Approach to Mine Behavioral Mobility Patterns.” </a:t>
            </a:r>
            <a:r>
              <a:rPr i="1"/>
              <a:t>Expert Syst. Appl.</a:t>
            </a:r>
            <a:r>
              <a:rPr/>
              <a:t> 238 (Part E): 122055. </a:t>
            </a:r>
            <a:r>
              <a:rPr>
                <a:hlinkClick r:id="rId2"/>
              </a:rPr>
              <a:t>https://doi.org/10.1016/J.ESWA.2023.122055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John Doe</dc:creator>
  <cp:keywords/>
  <dcterms:created xsi:type="dcterms:W3CDTF">2026-10-06T09:53:36Z</dcterms:created>
  <dcterms:modified xsi:type="dcterms:W3CDTF">2026-10-06T09:53:36Z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prova.bib</vt:lpwstr>
  </property>
  <property fmtid="{D5CDD505-2E9C-101B-9397-08002B2CF9AE}" pid="5" name="by-author">
    <vt:lpwstr/>
  </property>
  <property fmtid="{D5CDD505-2E9C-101B-9397-08002B2CF9AE}" pid="6" name="date">
    <vt:lpwstr>2023-12-04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subtitle">
    <vt:lpwstr>Subtitle</vt:lpwstr>
  </property>
  <property fmtid="{D5CDD505-2E9C-101B-9397-08002B2CF9AE}" pid="13" name="toc-title">
    <vt:lpwstr>Table of contents</vt:lpwstr>
  </property>
</Properties>
</file>